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putting a hand on the box. The hardware is the story: this entire system runs on one desktop machine, disconnected.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frame: this is a platform claim, not one demo. Then go deep on fraud.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imbalance honestly and early. It is the reason the rest of the approach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numbers came out of our own preprocessing run, not a paper. They justify the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temporal split matters to anyone who has been burned by leakage. Say it unprompted.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 output from the running system, captured on the GB10 - not a mockup. Everything on this slide is reproducible on the stand.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emotional centre of the pitch. Let the bar chart do the talking: full-width red at the top, a sliver at the bottom for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figure here was measured on this machine. None of it is from a datasheet.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SAMA-regulated institutions this is the difference between a pilot and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GenAI angle. Say plainly that embeddings complement rather than replace - a data scientist will ask, and the honest answer is the stronger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Transition: stop selling the demo, start selling the pattern.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explicit about what is built versus what is architecturally adjacent. Credibility depends on not blurring the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Transition. This widens the conversation from fraud ops to treasury and wealth.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the cuOpt solve, never with scenario generation - cuML KDE is not faster than sklearn at demo scale. And never demo below ~500 assets: at toy sizes the GPU 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back-office story. Strongest regional differentiator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Arabic table extraction is the differentiator - most vendors on that floor will not have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Retail banking. Pairs naturally with document intelligence - same box, deeper workflow.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deterministic cross-document check is the strongest point for a regulated buyer: the LLM extracts, but the decision rests on arithmetic that cannot hallucinate.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Saudi institutions this is often the deciding factor, ahead of model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Volunteering this early buys more trust than it costs. Risk teams will find it anyway.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box again. Offer to run their schema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ell-technologies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85800"/>
            <a:ext cx="2709401" cy="34747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3642089" y="679800"/>
            <a:ext cx="9525" cy="359472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vidia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57" y="578084"/>
            <a:ext cx="764555" cy="56290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214884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600" b="1">
                <a:solidFill>
                  <a:srgbClr val="E8EEF5"/>
                </a:solidFill>
                <a:latin typeface="Segoe UI"/>
              </a:rPr>
              <a:t>Detecting Fraud in the Graph</a:t>
            </a:r>
          </a:p>
          <a:p>
            <a:pPr>
              <a:spcAft>
                <a:spcPts val="0"/>
              </a:spcAft>
            </a:pPr>
            <a:r>
              <a:rPr sz="2100" b="0">
                <a:solidFill>
                  <a:srgbClr val="76B900"/>
                </a:solidFill>
                <a:latin typeface="Segoe UI"/>
              </a:rPr>
              <a:t>Graph neural networks + XGBoost, running entirely on one NVIDIA GB10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1480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8BA0B6"/>
                </a:solidFill>
                <a:latin typeface="Segoe UI"/>
              </a:rPr>
              <a:t>24.4 million card transactions  ·  589,000 scored per second  ·  a regulator-grade explanation for every decision  ·  no cloud, no network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MONEY20/20 MIDDLE EAST  ·  RIYADH  ·  14–16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ONE MACHINE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Four financial-services demos, all on-device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828800"/>
            <a:ext cx="38100" cy="969264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76B900"/>
                </a:solidFill>
                <a:latin typeface="Segoe UI"/>
              </a:rPr>
              <a:t>Fraud detection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Graph neural network + XGBoost scoring card transactions in real time, with a Shapley explanation behind every decision.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57984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589,528 txn/sec  ·  F1 0.958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907792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907792"/>
            <a:ext cx="38100" cy="969264"/>
          </a:xfrm>
          <a:prstGeom prst="rect">
            <a:avLst/>
          </a:prstGeom>
          <a:solidFill>
            <a:srgbClr val="4A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044952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4AA8E8"/>
                </a:solidFill>
                <a:latin typeface="Segoe UI"/>
              </a:rPr>
              <a:t>Portfolio optimisation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Mean-CVaR optimisation on NVIDIA cuOpt — robust tail-risk allocation fast enough to iterate on, not batch overnight.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236976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18x vs CPU  ·  same optimum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86784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3986784"/>
            <a:ext cx="38100" cy="969264"/>
          </a:xfrm>
          <a:prstGeom prst="rect">
            <a:avLst/>
          </a:prstGeom>
          <a:solidFill>
            <a:srgbClr val="FFA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1560" y="4123944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FFA502"/>
                </a:solidFill>
                <a:latin typeface="Segoe UI"/>
              </a:rPr>
              <a:t>Document intelligence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Arabic financial document extraction into tables, text and a knowledge graph — the KYC and trade-finance back office.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315968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on-device OCR + LLM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065776"/>
            <a:ext cx="10698480" cy="969264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5065776"/>
            <a:ext cx="38100" cy="969264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5202936"/>
            <a:ext cx="66751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>
                <a:solidFill>
                  <a:srgbClr val="0076CE"/>
                </a:solidFill>
                <a:latin typeface="Segoe UI"/>
              </a:rPr>
              <a:t>Loan origination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A 7B vision-language model reading identity and income documents, with a state machine driving approval and deterministic cross-document fraud checks.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0" y="5394960"/>
            <a:ext cx="3383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1">
                <a:solidFill>
                  <a:srgbClr val="E8EEF5"/>
                </a:solidFill>
                <a:latin typeface="Consolas"/>
              </a:rPr>
              <a:t>Qwen2.5-VL-7B · 8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1447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76B900"/>
                </a:solidFill>
                <a:latin typeface="Segoe UI"/>
              </a:rPr>
              <a:t>No cloud. No network at run time. One NVIDIA GB10 on the table.</a:t>
            </a:r>
          </a:p>
        </p:txBody>
      </p:sp>
      <p:pic>
        <p:nvPicPr>
          <p:cNvPr id="25" name="Picture 24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One fraud in every 819 transactions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model that says “never fraud” is 99.88% accurate — and worthless.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In the IBM TabFormer dataset: 24,386,900 transactions, 29,757 of them fraudulent. A base rate of 0.122%.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Extreme imbalance breaks conventional accuracy thinking.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cost of a miss and the cost of a false alarm are wildly asymmetric, and both are business decisions, not model settings.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Fraud does not look unusual on its own row.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fraudulent transactions in this dataset are mostly ordinary amounts at ordinary times. Nothing in the row screams fraud.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846320"/>
            <a:ext cx="10698480" cy="10515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12064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76B900"/>
                </a:solidFill>
                <a:latin typeface="Segoe UI"/>
              </a:rPr>
              <a:t>So the signal is not in the transaction. It is in the relationships around it.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THE DATA SAYS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strongest fraud signals are entities, not amounts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Correlation with the fraud label, measured during preprocessing of all 24.4M rows: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2422440"/>
            <a:ext cx="601827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0" y="237744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35.9%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9806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identity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0" y="2843064"/>
            <a:ext cx="5850635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0" y="27980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34.9%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1868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E8EEF5"/>
                </a:solidFill>
                <a:latin typeface="Segoe UI"/>
              </a:rPr>
              <a:t>Merchant city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3263688"/>
            <a:ext cx="5448300" cy="18288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6696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E8EEF5"/>
                </a:solidFill>
                <a:latin typeface="Consolas"/>
              </a:rPr>
              <a:t>32.5%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63931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Postal code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0" y="3684312"/>
            <a:ext cx="2514600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0" y="363931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15.0%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05993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category (MCC)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0" y="4104936"/>
            <a:ext cx="21290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66960" y="405993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12.7%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4805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Card / cardholder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0" y="4525560"/>
            <a:ext cx="1106424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4480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6.6%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901184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Day of month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0" y="4946184"/>
            <a:ext cx="50291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66960" y="49011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32180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Month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0" y="5366808"/>
            <a:ext cx="33528" cy="182880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60" y="532180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Consolas"/>
              </a:rPr>
              <a:t>0.2%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76B900"/>
                </a:solidFill>
                <a:latin typeface="Segoe UI"/>
              </a:rPr>
              <a:t>Where and with whom — not when, and not how much. That is a graph problem.</a:t>
            </a:r>
          </a:p>
        </p:txBody>
      </p:sp>
      <p:pic>
        <p:nvPicPr>
          <p:cNvPr id="34" name="Picture 33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Model the transaction graph, then classify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1  Build the graph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Cardholders, transactions and merchants become nodes. Every payment becomes edges: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user → transaction → merchant.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301,524 training transactions across</a:t>
            </a:r>
            <a:br/>
            <a:r>
              <a:rPr sz="1300" b="0">
                <a:solidFill>
                  <a:srgbClr val="8BA0B6"/>
                </a:solidFill>
                <a:latin typeface="Segoe UI"/>
              </a:rPr>
              <a:t>4,873 cardholders and 42,942 merchants.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2  Learn the neighbourhood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A GraphSAGE network aggregates each transaction's neighbourhood into an embedding — so a transaction is represented by the company it keeps, not just its own fields.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2 hops, 32 hidden channels.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356616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240280"/>
            <a:ext cx="283464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76B900"/>
                </a:solidFill>
                <a:latin typeface="Segoe UI"/>
              </a:rPr>
              <a:t>3  Classify and explain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XGBoost scores the embeddings, and Shapley value sampling attributes each decision back to human-readable feature groups.</a:t>
            </a:r>
            <a:br/>
            <a:br/>
            <a:r>
              <a:rPr sz="1300" b="0">
                <a:solidFill>
                  <a:srgbClr val="8BA0B6"/>
                </a:solidFill>
                <a:latin typeface="Segoe UI"/>
              </a:rPr>
              <a:t>Every score arrives with its reasons.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Temporal split, not random: train before 2018, validate on 2018, test after. It is a backtest.</a:t>
            </a:r>
          </a:p>
        </p:txBody>
      </p:sp>
      <p:pic>
        <p:nvPicPr>
          <p:cNvPr id="15" name="Picture 14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What the booth screen shows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83282" y="1864994"/>
            <a:ext cx="8431530" cy="4374261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874519"/>
            <a:ext cx="8412480" cy="43552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92807" y="6382512"/>
            <a:ext cx="8412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Left: transactions scoring in real time.   Centre: the flagged transaction and its real details.   Right: why it was flagged.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THE MOMENT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An ordinary amount, flagged at 99.5%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7715" y="1864994"/>
            <a:ext cx="3031699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emo-verdi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012649" cy="3977639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242435" y="1864994"/>
            <a:ext cx="3271770" cy="3996689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emo-expl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1874519"/>
            <a:ext cx="3252720" cy="39776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1965960"/>
            <a:ext cx="3291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1">
                <a:solidFill>
                  <a:srgbClr val="E8EEF5"/>
                </a:solidFill>
                <a:latin typeface="Segoe UI"/>
              </a:rPr>
              <a:t>Read the bars, not the numbers.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Merchant city dominates the decision. Postal code follows. Transaction amount contributes under 1% as much — a sliver.</a:t>
            </a:r>
          </a:p>
          <a:p>
            <a:pPr>
              <a:spcAft>
                <a:spcPts val="1400"/>
              </a:spcAft>
            </a:pPr>
            <a:r>
              <a:rPr sz="1400" b="0">
                <a:solidFill>
                  <a:srgbClr val="E8EEF5"/>
                </a:solidFill>
                <a:latin typeface="Segoe UI"/>
              </a:rPr>
              <a:t>A rules engine watching for large or unusual amounts never sees this transaction.</a:t>
            </a:r>
          </a:p>
          <a:p>
            <a:pPr>
              <a:spcAft>
                <a:spcPts val="0"/>
              </a:spcAft>
            </a:pPr>
            <a:r>
              <a:rPr sz="1500" b="1">
                <a:solidFill>
                  <a:srgbClr val="76B900"/>
                </a:solidFill>
                <a:latin typeface="Segoe UI"/>
              </a:rPr>
              <a:t>The fraud is not in the payment.</a:t>
            </a:r>
            <a:br/>
            <a:r>
              <a:rPr sz="1500" b="1">
                <a:solidFill>
                  <a:srgbClr val="76B900"/>
                </a:solidFill>
                <a:latin typeface="Segoe UI"/>
              </a:rPr>
              <a:t>It is in the company the payment keeps.</a:t>
            </a:r>
          </a:p>
        </p:txBody>
      </p:sp>
      <p:pic>
        <p:nvPicPr>
          <p:cNvPr id="13" name="Picture 12" descr="dell-technologies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vidia-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MEASURED ON THE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Performance on a single NVIDIA GB10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589,528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transactions scored per second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25,803 in 0.044 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0.958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F1 score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precision 94.3% · recall 97.3%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659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21671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41.7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preprocess 24.4M rows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graph construction on GPU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23.0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to train end to end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GNN + XGBoost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3.3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per live explanation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Shapley, computed on demand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794760"/>
            <a:ext cx="3364992" cy="160020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995928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76B900"/>
                </a:solidFill>
                <a:latin typeface="Consolas"/>
              </a:rPr>
              <a:t>9.4 s</a:t>
            </a:r>
          </a:p>
          <a:p>
            <a:pPr>
              <a:spcAft>
                <a:spcPts val="200"/>
              </a:spcAft>
            </a:pPr>
            <a:r>
              <a:rPr sz="1300" b="0">
                <a:solidFill>
                  <a:srgbClr val="E8EEF5"/>
                </a:solidFill>
                <a:latin typeface="Segoe UI"/>
              </a:rPr>
              <a:t>full power-cycle recovery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8BA0B6"/>
                </a:solidFill>
                <a:latin typeface="Segoe UI"/>
              </a:rPr>
              <a:t>container restart to serving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0">
                <a:solidFill>
                  <a:srgbClr val="8BA0B6"/>
                </a:solidFill>
                <a:latin typeface="Segoe UI"/>
              </a:rPr>
              <a:t>Portfolio optimisation: 18x vs CPU on a 51,502-variable LP.   Document intelligence: full OCR, graph and vector pipeline on the same machine.</a:t>
            </a:r>
          </a:p>
        </p:txBody>
      </p:sp>
      <p:pic>
        <p:nvPicPr>
          <p:cNvPr id="21" name="Picture 2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EXPLAINABILITY IS THE PRODUCT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 score a bank cannot justify is a score it cannot 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Every decision carries its reasons.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Shapley attribution runs per transaction, not as a dataset-level feature-importance chart. “Why was this card declined?” has an answer.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Attribution is grouped into human language.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Not 38 anonymous encoded columns — merchant city, postal code, entry mode, terminal errors, transaction amount.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supports the conversation with the regulator and the customer.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Adverse-action explanation, dispute handling, model risk documentation and audit all need the same thing: a defensible reason.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It also exposes the model's mistakes.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demo displays ground truth on every transaction, including its 123 false positives and 56 misses. Confidence, not concealment.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09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BEYOND SUPERVISED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 foundation model for spending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785610" cy="3522154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mbedding-t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766560" cy="35031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0" y="1965960"/>
            <a:ext cx="365760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29M parameters. A 6,251-token financial vocabulary. Trained only to predict a cardholder's next transaction — never shown a fraud label.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E8EEF5"/>
                </a:solidFill>
                <a:latin typeface="Segoe UI"/>
              </a:rPr>
              <a:t>Fraud clusters anyway.</a:t>
            </a:r>
          </a:p>
          <a:p>
            <a:pPr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Adding these embeddings to the production fraud features lifted average precision by 26.9% — fewer false alarms at the same catch rate.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FFA502"/>
                </a:solidFill>
                <a:latin typeface="Segoe UI"/>
              </a:rPr>
              <a:t>Embeddings alone score far worse than plain features. They complement feature engineering; they do not replace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59,123 transactions from a 1.2M corpus  ·  projected with cuML UMAP in 2.2 s on the GB10</a:t>
            </a:r>
          </a:p>
        </p:txBody>
      </p:sp>
      <p:pic>
        <p:nvPicPr>
          <p:cNvPr id="12" name="Picture 11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200" b="1">
                <a:solidFill>
                  <a:srgbClr val="E8EEF5"/>
                </a:solidFill>
                <a:latin typeface="Segoe UI"/>
              </a:rPr>
              <a:t>Where this applies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The demo is card fraud. The architecture is a pattern for any problem where the answer lives in relationships.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Payment fraud at authorisation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every card transaction in the authorisation window, with the reason attached.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Nothing — this is the demonstrated system.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Cardholder → transaction → merchant.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Catches ordinary-looking amounts at compromised merchants that amount-and-velocity rules miss.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Sub-millisecond scoring leaves budget for the rest of the authorisation path.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Demonstrated today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Money laundering and mule networks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Find the structure, not the suspicious individual: layering chains, mule rings, circular flows.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Node types become accounts and counterparties; edges become transfers with amount and timing.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Account → transfer → account, across institutions where data sharing permits.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Mule networks are invisible per-account and obvious as a subgraph. This is the canonical GNN case.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Batch scoring over a transfer window; explanations support the STR narrative.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Strong architectural fit — not yet built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Merchant and acquirer risk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Score the merchant, not just the payment: onboarding risk, transaction laundering, bust-out patterns.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Predict on the merchant node instead of the transaction node.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Merchant ↔ shared cardholders, terminals, beneficial owners, settlement accounts.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Fraudulent merchants are identifiable by who they share customers and infrastructure with.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Daily or weekly re-scoring; feeds portfolio monitoring and onboarding decisions.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76B900"/>
                </a:solidFill>
                <a:latin typeface="Consolas"/>
              </a:rPr>
              <a:t>STATUS   Same node-prediction pattern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USE CASE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Account takeover and synthetic identity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76B900"/>
                </a:solidFill>
                <a:latin typeface="Segoe UI"/>
              </a:rPr>
              <a:t>Detect accounts that behave like a network artefact rather than a person.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8716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WHAT CHANGES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467168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Add device, session and identity-attribute nodes to the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36976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THE GRAPH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3216976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Customer ↔ device ↔ session ↔ shared attributes (address, phone, employer).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86784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WHY GRAPH WINS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966784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Synthetic identities are built from recombined real attributes — the reuse is only visible across accounts.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8BA0B6"/>
                </a:solidFill>
                <a:latin typeface="Consolas"/>
              </a:rPr>
              <a:t>OPERATIONAL FIT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4716592"/>
            <a:ext cx="804672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E8EEF5"/>
                </a:solidFill>
                <a:latin typeface="Segoe UI"/>
              </a:rPr>
              <a:t>Real-time at login and step-up; explanations justify the friction applied.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79008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STATUS   Requires additional data sources</a:t>
            </a:r>
          </a:p>
        </p:txBody>
      </p:sp>
      <p:pic>
        <p:nvPicPr>
          <p:cNvPr id="19" name="Picture 1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4AA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two — Portfolio optimisation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The same box, a different discipline: robust tail-risk allocation on NVIDIA cuOpt.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PORTFOLIO OPTIMISATION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Robust allocation, fast enough to iterate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694170" cy="3892010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portfolio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675120" cy="38729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1920240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Mean-CVaR asks a harder question than mean-variance: on the worst 5% of days, how much do I lose? Answering it means simulating tens of thousands of futures.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11.7 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GPU · cuOpt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211.7 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CPU · CVXPY</a:t>
            </a:r>
          </a:p>
          <a:p>
            <a:pPr>
              <a:spcAft>
                <a:spcPts val="100"/>
              </a:spcAft>
            </a:pPr>
            <a:r>
              <a:rPr sz="2100" b="1">
                <a:solidFill>
                  <a:srgbClr val="4AA8E8"/>
                </a:solidFill>
                <a:latin typeface="Consolas"/>
              </a:rPr>
              <a:t>18x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8BA0B6"/>
                </a:solidFill>
                <a:latin typeface="Segoe UI"/>
              </a:rPr>
              <a:t>faster, same optimum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E8EEF5"/>
                </a:solidFill>
                <a:latin typeface="Segoe UI"/>
              </a:rPr>
              <a:t>500 assets × 50,000 scenarios — an LP with 51,502 variables.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035040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76B900"/>
                </a:solidFill>
                <a:latin typeface="Segoe UI"/>
              </a:rPr>
              <a:t>Rebalancing is a repeated task, not a one-off. Across hundreds of backtest solves, that gap turns an overnight job into a morning's work.</a:t>
            </a:r>
          </a:p>
        </p:txBody>
      </p:sp>
      <p:pic>
        <p:nvPicPr>
          <p:cNvPr id="12" name="Picture 11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FFA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three — Document intelligence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Arabic financial documents into structured data — on the same box, still offline.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DOCUMENT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Arabic documents into tables, text and a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1995" y="1864994"/>
            <a:ext cx="6694170" cy="3560042"/>
          </a:xfrm>
          <a:prstGeom prst="rect">
            <a:avLst/>
          </a:prstGeom>
          <a:noFill/>
          <a:ln w="12700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cs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874519"/>
            <a:ext cx="6675120" cy="35409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80960" y="1920240"/>
            <a:ext cx="3749039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KYC files, trade-finance paperwork and account-opening packs arrive as scans — often in Arabic, often as tables no rules engine can read.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FFA502"/>
                </a:solidFill>
                <a:latin typeface="Consolas"/>
              </a:rPr>
              <a:t>The pipeline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Layout detection and OCR on the page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Tables → PostgreSQL, structured and queryable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Text → knowledge graph (Ollama → ArangoDB)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All content → vector store (Qdrant) for retrieval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E8EEF5"/>
                </a:solidFill>
                <a:latin typeface="Segoe UI"/>
              </a:rPr>
              <a:t>·  Source images → object store (MinIO)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76B900"/>
                </a:solidFill>
                <a:latin typeface="Segoe UI"/>
              </a:rPr>
              <a:t>Every model runs on the GB10. No document leaves the building.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011680" cy="28575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97180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E8EEF5"/>
                </a:solidFill>
                <a:latin typeface="Segoe UI"/>
              </a:rPr>
              <a:t>Demo four — Loan origination</a:t>
            </a:r>
          </a:p>
          <a:p>
            <a:pPr>
              <a:spcAft>
                <a:spcPts val="0"/>
              </a:spcAft>
            </a:pPr>
            <a:r>
              <a:rPr sz="1800" b="0">
                <a:solidFill>
                  <a:srgbClr val="8BA0B6"/>
                </a:solidFill>
                <a:latin typeface="Segoe UI"/>
              </a:rPr>
              <a:t>A vision-language model reading the documents a loan officer reads, and a state machine making the decision auditable.</a:t>
            </a:r>
          </a:p>
        </p:txBody>
      </p:sp>
      <p:pic>
        <p:nvPicPr>
          <p:cNvPr id="7" name="Picture 6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LOAN ORIGINATION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From document upload to an auditable decision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A8E8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90024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EF5"/>
                </a:solidFill>
                <a:latin typeface="Segoe UI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1900240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BA0B6"/>
                </a:solidFill>
                <a:latin typeface="Segoe UI"/>
              </a:rPr>
              <a:t>Applicant uploads identity and income documents — national ID, employer letter, tax card, utility bill.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5292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A8E8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832928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EF5"/>
                </a:solidFill>
                <a:latin typeface="Segoe UI"/>
              </a:rPr>
              <a:t>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832928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BA0B6"/>
                </a:solidFill>
                <a:latin typeface="Segoe UI"/>
              </a:rPr>
              <a:t>A 7B vision-language model reads each document natively. No OCR-then-parse pipeline, no template per document type.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8561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A8E8"/>
                </a:solidFill>
                <a:latin typeface="Consolas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3765616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EF5"/>
                </a:solidFill>
                <a:latin typeface="Segoe UI"/>
              </a:rPr>
              <a:t>Cross-check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765616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BA0B6"/>
                </a:solidFill>
                <a:latin typeface="Segoe UI"/>
              </a:rPr>
              <a:t>Deterministic validation across documents: does the name on the ID match the employer letter, does declared income match the tax card. Arithmetic, not inference.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1830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4AA8E8"/>
                </a:solidFill>
                <a:latin typeface="Consolas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698304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E8EEF5"/>
                </a:solidFill>
                <a:latin typeface="Segoe UI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698304"/>
            <a:ext cx="76809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8BA0B6"/>
                </a:solidFill>
                <a:latin typeface="Segoe UI"/>
              </a:rPr>
              <a:t>A state machine walks the approval path and records why — every step reconstructable for an auditor.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669280"/>
            <a:ext cx="10698480" cy="566928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815584"/>
            <a:ext cx="10149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76B900"/>
                </a:solidFill>
                <a:latin typeface="Segoe UI"/>
              </a:rPr>
              <a:t>Why it matters here:  the fraud checks are arithmetic, not model output — so the model can be wrong without the decision being unsafe.</a:t>
            </a:r>
          </a:p>
        </p:txBody>
      </p:sp>
      <p:pic>
        <p:nvPicPr>
          <p:cNvPr id="22" name="Picture 21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WHY IT RUNS ON ONE BOX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Data residency without a cloud dependency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entire system is on-device.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Dataset, preprocessing, training, inference and explanation all run on a single GB10. During the demo the network cable is unplugged and nothing changes.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No transaction data leaves the institution — or the Kingdom.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That removes the cross-border data-transfer question from the procurement conversation entirely, rather than answering it.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Deployable where the data already is.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desktop-class box fits in a branch, a data centre rack, or a regional processing site without redesigning the estate.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Recovery is measured in seconds.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Full restart to serving in 9.4 seconds, with automatic restart on power loss.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WHAT WE ARE NOT CLAIMING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The caveats, stated first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These metrics come from a rebalanced benchmark, not production conditions.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held-out set runs at 8.09% fraud; the true base rate is 0.122%. At the real rate, false-positive economics change materially. Any pilot must be re-measured on live distributions.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Training undersamples the majority class.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 0.1 fraud ratio with computed class weights. Standard practice for extreme imbalance, and a deliberate modelling choice rather than a hidden one.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The dataset is public and synthetic-adjacent.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IBM TabFormer, Apache 2.0. It demonstrates the method; it is not a proxy for any institution's own fraud patterns.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A production deployment needs the surrounding system.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Case management, feedback loops, model monitoring, champion/challenger and drift detection are all out of scope for this demo.</a:t>
            </a:r>
          </a:p>
        </p:txBody>
      </p:sp>
      <p:pic>
        <p:nvPicPr>
          <p:cNvPr id="9" name="Picture 8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E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95847" cy="38100"/>
          </a:xfrm>
          <a:prstGeom prst="rect">
            <a:avLst/>
          </a:prstGeom>
          <a:solidFill>
            <a:srgbClr val="0076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95847" y="0"/>
            <a:ext cx="6095847" cy="38100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76B900"/>
                </a:solidFill>
                <a:latin typeface="Consolas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6868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E8EEF5"/>
                </a:solidFill>
                <a:latin typeface="Segoe UI"/>
              </a:rPr>
              <a:t>From demo to 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572768"/>
            <a:ext cx="1371600" cy="28575"/>
          </a:xfrm>
          <a:prstGeom prst="rect">
            <a:avLst/>
          </a:prstGeom>
          <a:solidFill>
            <a:srgbClr val="76B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Run it on your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The pipeline is three commands and roughly a minute of compute for a dataset this size. The graph schema adapts to your transaction model.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Choose the use case with the clearest data.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Payment fraud and merchant risk need only data an issuer or acquirer already holds. AML and identity graphs need more sourcing.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Measure at the true base rate from day one.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Agree the false-positive budget with the fraud operations team before tuning anything.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E8EEF5"/>
                </a:solidFill>
                <a:latin typeface="Segoe UI"/>
              </a:rPr>
              <a:t>Deploy where the data lives.</a:t>
            </a:r>
          </a:p>
          <a:p>
            <a:pPr>
              <a:spcAft>
                <a:spcPts val="1300"/>
              </a:spcAft>
            </a:pPr>
            <a:r>
              <a:rPr sz="1400" b="0">
                <a:solidFill>
                  <a:srgbClr val="8BA0B6"/>
                </a:solidFill>
                <a:latin typeface="Segoe UI"/>
              </a:rPr>
              <a:t>One GB10 per site, or scale up the same containers on larger NVIDIA infrastructure — the stack is identical.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440680"/>
            <a:ext cx="10698480" cy="777240"/>
          </a:xfrm>
          <a:prstGeom prst="roundRect">
            <a:avLst/>
          </a:prstGeom>
          <a:solidFill>
            <a:srgbClr val="141C25"/>
          </a:solidFill>
          <a:ln w="9525">
            <a:solidFill>
              <a:srgbClr val="2230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565099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8BA0B6"/>
                </a:solidFill>
                <a:latin typeface="Segoe UI"/>
              </a:rPr>
              <a:t>Built on the NVIDIA AI Blueprint for Financial Fraud Detection  ·  IBM TabFormer dataset (Apache 2.0)  ·  running on NVIDIA GB10</a:t>
            </a:r>
          </a:p>
        </p:txBody>
      </p:sp>
      <p:pic>
        <p:nvPicPr>
          <p:cNvPr id="11" name="Picture 10" descr="dell-technologies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6309360"/>
            <a:ext cx="1853801" cy="2377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786489" y="6303360"/>
            <a:ext cx="9525" cy="249744"/>
          </a:xfrm>
          <a:prstGeom prst="rect">
            <a:avLst/>
          </a:prstGeom>
          <a:solidFill>
            <a:srgbClr val="223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nvidia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7657" y="6235660"/>
            <a:ext cx="523117" cy="38514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058400" y="633679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8BA0B6"/>
                </a:solidFill>
                <a:latin typeface="Consolas"/>
              </a:rPr>
              <a:t>24 / 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