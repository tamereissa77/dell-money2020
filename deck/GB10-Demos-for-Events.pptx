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putting a hand on the box. The hardware is the story: this entire system runs on one desktop machine, disconnected.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frame: this is a platform claim, not one demo. Then go deep on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imbalance honestly and early. It is the reason the rest of the approach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came out of our own preprocessing run, not a paper. They justify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temporal split matters to anyone who has been burned by leakage. Say it unprompted.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output from the running system, captured on the GB10 - not a mockup. Everything on this slide is reproducible on the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emotional centre of the pitch. Let the bar chart do the talking: full-width red at the top, a sliver at the bottom for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figure here was measured on this machine. None of it is from a datasheet.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SAMA-regulated institutions this is the difference between a pilot and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GenAI angle. Say plainly that embeddings complement rather than replace - a data scientist will ask, and the honest answer is the stronger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stop selling the demo, start selling the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is built versus what is architecturally adjacent. Credibility depends on not blurring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is built versus what is architecturally adjacent. Credibility depends on not blurring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is built versus what is architecturally adjacent. Credibility depends on not blurring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is built versus what is architecturally adjacent. Credibility depends on not blurring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This widens the conversation from fraud ops to treasury and wealth.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cuOpt solve, never with scenario generation - cuML KDE is not faster than sklearn at demo scale. And never demo below ~500 assets: at toy sizes the GPU 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back-office story. Strongest regional differentiator of the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Arabic table extraction is the differentiator - most vendors on that floor will not have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Retail banking. Pairs naturally with document intelligence - same box, deeper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deterministic cross-document check is the strongest point for a regulated buyer: the model extracts, but the decision rests on arithmetic that cannot hallucinate. Adapter status is visible at /health - confirm it says '+ LoRA' before demoing.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Saudi institutions this is often the deciding factor, ahead of model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this, do not wait to be asked. Being the people who found it is a far stronger position than being the people who shipped it. TabFormer generates fraud in campaigns and each campaign sits in one geography; the benchmark split lands the whole test period inside a single-city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makes the commercial argument. The high-precision dataset is the one where our thesis is false; this is the one where it is true. Precision 0.82 vs 0.68 is the number to say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PoC. Expect absolute F1 on production data below 0.78, not above — harsher base rate, noisier labels. Say so. The ranking metric is what they can check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this early buys more trust than it costs. Risk teams will find it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box again. Offer to run their schema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ll-technologi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2709401" cy="3474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42089" y="679800"/>
            <a:ext cx="9525" cy="359472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vidi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257" y="578084"/>
            <a:ext cx="764555" cy="5629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2148840"/>
            <a:ext cx="201168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E8EEF5"/>
                </a:solidFill>
                <a:latin typeface="Segoe UI"/>
              </a:rPr>
              <a:t>Detecting Fraud in the Graph</a:t>
            </a:r>
          </a:p>
          <a:p>
            <a:pPr>
              <a:spcAft>
                <a:spcPts val="0"/>
              </a:spcAft>
            </a:pPr>
            <a:r>
              <a:rPr sz="2100" b="0">
                <a:solidFill>
                  <a:srgbClr val="76B900"/>
                </a:solidFill>
                <a:latin typeface="Segoe UI"/>
              </a:rPr>
              <a:t>Graph neural networks + XGBoost, running entirely on one NVIDIA GB10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BA0B6"/>
                </a:solidFill>
                <a:latin typeface="Segoe UI"/>
              </a:rPr>
              <a:t>24.4 million card transactions  ·  589,000 scored per second  ·  a regulator-grade explanation for every decision  ·  no cloud, no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MONEY20/20 MIDDLE EAST  ·  RIYADH  ·  14–16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ONE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Four financial-services demos, all on-device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969264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8100" cy="9692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6B900"/>
                </a:solidFill>
                <a:latin typeface="Segoe UI"/>
              </a:rPr>
              <a:t>Fraud detection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Graph neural network + XGBoost scoring card transactions in real time, with a Shapley explanation behind every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5798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E8EEF5"/>
                </a:solidFill>
                <a:latin typeface="Consolas"/>
              </a:rPr>
              <a:t>589,528 txn/sec  ·  F1 0.958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07792"/>
            <a:ext cx="10698480" cy="969264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07792"/>
            <a:ext cx="38100" cy="969264"/>
          </a:xfrm>
          <a:prstGeom prst="rect">
            <a:avLst/>
          </a:prstGeom>
          <a:solidFill>
            <a:srgbClr val="4A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044952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AA8E8"/>
                </a:solidFill>
                <a:latin typeface="Segoe UI"/>
              </a:rPr>
              <a:t>Portfolio optimisation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Mean-CVaR optimisation on NVIDIA cuOpt — robust tail-risk allocation fast enough to iterate on, not batch overnight.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23697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E8EEF5"/>
                </a:solidFill>
                <a:latin typeface="Consolas"/>
              </a:rPr>
              <a:t>18x vs CPU  ·  same optimum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86784"/>
            <a:ext cx="10698480" cy="969264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86784"/>
            <a:ext cx="38100" cy="969264"/>
          </a:xfrm>
          <a:prstGeom prst="rect">
            <a:avLst/>
          </a:prstGeom>
          <a:solidFill>
            <a:srgbClr val="FFA5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23944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A502"/>
                </a:solidFill>
                <a:latin typeface="Segoe UI"/>
              </a:rPr>
              <a:t>Document intelligence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Arabic financial document extraction into tables, text and a knowledge graph — the KYC and trade-finance back office.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31596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E8EEF5"/>
                </a:solidFill>
                <a:latin typeface="Consolas"/>
              </a:rPr>
              <a:t>on-device OCR + 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65776"/>
            <a:ext cx="10698480" cy="969264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65776"/>
            <a:ext cx="38100" cy="969264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202936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076CE"/>
                </a:solidFill>
                <a:latin typeface="Segoe UI"/>
              </a:rPr>
              <a:t>Loan origination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A 7B vision-language model reading identity and income documents, with a state machine driving approval and deterministic cross-document fraud checks.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394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E8EEF5"/>
                </a:solidFill>
                <a:latin typeface="Consolas"/>
              </a:rPr>
              <a:t>fine-tuned Qwen2.5-VL-7B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4476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6B900"/>
                </a:solidFill>
                <a:latin typeface="Segoe UI"/>
              </a:rPr>
              <a:t>No cloud. No network at run time. One NVIDIA GB10 on the table.</a:t>
            </a:r>
          </a:p>
        </p:txBody>
      </p:sp>
      <p:pic>
        <p:nvPicPr>
          <p:cNvPr id="25" name="Picture 24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One fraud in every 819 transactions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A model that says “never fraud” is 99.88% accurate — and worthless.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In the IBM TabFormer dataset: 24,386,900 transactions, 29,757 of them fraudulent. A base rate of 0.122%.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Extreme imbalance breaks conventional accuracy thinking.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The cost of a miss and the cost of a false alarm are wildly asymmetric, and both are business decisions, not model settings.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Fraud does not look unusual on its own row.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The fraudulent transactions in this dataset are mostly ordinary amounts at ordinary times. Nothing in the row screams fraud.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05156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120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76B900"/>
                </a:solidFill>
                <a:latin typeface="Segoe UI"/>
              </a:rPr>
              <a:t>So the signal is not in the transaction. It is in the relationships around it.</a:t>
            </a:r>
          </a:p>
        </p:txBody>
      </p:sp>
      <p:pic>
        <p:nvPicPr>
          <p:cNvPr id="11" name="Picture 10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WHAT THE DATA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The strongest fraud signals are entities, not amounts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Correlation with the fraud label, measured during preprocessing of all 24.4M rows: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5"/>
                </a:solidFill>
                <a:latin typeface="Segoe UI"/>
              </a:rPr>
              <a:t>Merchant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422440"/>
            <a:ext cx="6018275" cy="1828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2377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EF5"/>
                </a:solidFill>
                <a:latin typeface="Consolas"/>
              </a:rPr>
              <a:t>35.9%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980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5"/>
                </a:solidFill>
                <a:latin typeface="Segoe UI"/>
              </a:rPr>
              <a:t>Merchant identity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843064"/>
            <a:ext cx="5850635" cy="1828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27980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EF5"/>
                </a:solidFill>
                <a:latin typeface="Consolas"/>
              </a:rPr>
              <a:t>34.9%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186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5"/>
                </a:solidFill>
                <a:latin typeface="Segoe UI"/>
              </a:rPr>
              <a:t>Merchant 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263688"/>
            <a:ext cx="5448300" cy="1828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3218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EF5"/>
                </a:solidFill>
                <a:latin typeface="Consolas"/>
              </a:rPr>
              <a:t>32.5%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Postal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684312"/>
            <a:ext cx="2514600" cy="182880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36393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Consolas"/>
              </a:rPr>
              <a:t>15.0%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599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Merchant category (MCC)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104936"/>
            <a:ext cx="2129028" cy="182880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40599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Consolas"/>
              </a:rPr>
              <a:t>12.7%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Card / cardholder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4525560"/>
            <a:ext cx="1106424" cy="182880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4480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Consolas"/>
              </a:rPr>
              <a:t>6.6%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011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Day of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946184"/>
            <a:ext cx="50291" cy="182880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49011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Consolas"/>
              </a:rPr>
              <a:t>0.3%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218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5366808"/>
            <a:ext cx="33528" cy="182880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53218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Consolas"/>
              </a:rPr>
              <a:t>0.2%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6B900"/>
                </a:solidFill>
                <a:latin typeface="Segoe UI"/>
              </a:rPr>
              <a:t>Where and with whom — not when, and not how much. That is a graph problem.</a:t>
            </a:r>
          </a:p>
        </p:txBody>
      </p:sp>
      <p:pic>
        <p:nvPicPr>
          <p:cNvPr id="34" name="Picture 33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THE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Model the transaction graph, then classify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64992" cy="356616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28346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76B900"/>
                </a:solidFill>
                <a:latin typeface="Segoe UI"/>
              </a:rPr>
              <a:t>1  Build the graph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Cardholders, transactions and merchants become nodes. Every payment becomes edges:</a:t>
            </a:r>
            <a:br/>
            <a:r>
              <a:rPr sz="1300" b="0">
                <a:solidFill>
                  <a:srgbClr val="8BA0B6"/>
                </a:solidFill>
                <a:latin typeface="Segoe UI"/>
              </a:rPr>
              <a:t>user → transaction → merchant.</a:t>
            </a:r>
            <a:br/>
            <a:br/>
            <a:r>
              <a:rPr sz="1300" b="0">
                <a:solidFill>
                  <a:srgbClr val="8BA0B6"/>
                </a:solidFill>
                <a:latin typeface="Segoe UI"/>
              </a:rPr>
              <a:t>301,524 training transactions across</a:t>
            </a:r>
            <a:br/>
            <a:r>
              <a:rPr sz="1300" b="0">
                <a:solidFill>
                  <a:srgbClr val="8BA0B6"/>
                </a:solidFill>
                <a:latin typeface="Segoe UI"/>
              </a:rPr>
              <a:t>4,873 cardholders and 42,942 merchants.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364992" cy="356616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28346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76B900"/>
                </a:solidFill>
                <a:latin typeface="Segoe UI"/>
              </a:rPr>
              <a:t>2  Learn the neighbourhood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A GraphSAGE network aggregates each transaction's neighbourhood into an embedding — so a transaction is represented by the company it keeps, not just its own fields.</a:t>
            </a:r>
            <a:br/>
            <a:br/>
            <a:r>
              <a:rPr sz="1300" b="0">
                <a:solidFill>
                  <a:srgbClr val="8BA0B6"/>
                </a:solidFill>
                <a:latin typeface="Segoe UI"/>
              </a:rPr>
              <a:t>2 hops, 32 hidden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364992" cy="356616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80"/>
            <a:ext cx="28346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76B900"/>
                </a:solidFill>
                <a:latin typeface="Segoe UI"/>
              </a:rPr>
              <a:t>3  Classify and explain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XGBoost scores the embeddings, and Shapley value sampling attributes each decision back to human-readable feature groups.</a:t>
            </a:r>
            <a:br/>
            <a:br/>
            <a:r>
              <a:rPr sz="1300" b="0">
                <a:solidFill>
                  <a:srgbClr val="8BA0B6"/>
                </a:solidFill>
                <a:latin typeface="Segoe UI"/>
              </a:rPr>
              <a:t>Every score arrives with its reasons.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Temporal split, not random: train before 2018, validate on 2018, test after. It is a backtest.</a:t>
            </a:r>
          </a:p>
        </p:txBody>
      </p:sp>
      <p:pic>
        <p:nvPicPr>
          <p:cNvPr id="15" name="Picture 14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THE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What the booth screen shows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83282" y="1864994"/>
            <a:ext cx="8431530" cy="4374261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7" y="1874519"/>
            <a:ext cx="8412480" cy="4355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92807" y="6382512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Left: transactions scoring in real time.   Centre: the flagged transaction and its real details.   Right: why it was flagged.</a:t>
            </a:r>
          </a:p>
        </p:txBody>
      </p:sp>
      <p:pic>
        <p:nvPicPr>
          <p:cNvPr id="11" name="Picture 10" descr="dell-technologie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vidi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THE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An ordinary amount, flagged at 99.5%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7715" y="1864994"/>
            <a:ext cx="3031699" cy="3996689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-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3012649" cy="39776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242435" y="1864994"/>
            <a:ext cx="3271770" cy="3996689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mo-ex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74519"/>
            <a:ext cx="3252720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1965960"/>
            <a:ext cx="32918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E8EEF5"/>
                </a:solidFill>
                <a:latin typeface="Segoe UI"/>
              </a:rPr>
              <a:t>Read the bars, not the numbers.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Merchant city dominates the decision. Postal code follows. Transaction amount contributes under 1% as much — a sliver.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A rules engine watching for large or unusual amounts never sees this transaction.</a:t>
            </a:r>
          </a:p>
          <a:p>
            <a:pPr>
              <a:spcAft>
                <a:spcPts val="0"/>
              </a:spcAft>
            </a:pPr>
            <a:r>
              <a:rPr sz="1500" b="1">
                <a:solidFill>
                  <a:srgbClr val="76B900"/>
                </a:solidFill>
                <a:latin typeface="Segoe UI"/>
              </a:rPr>
              <a:t>The fraud is not in the payment.</a:t>
            </a:r>
            <a:br/>
            <a:r>
              <a:rPr sz="1500" b="1">
                <a:solidFill>
                  <a:srgbClr val="76B900"/>
                </a:solidFill>
                <a:latin typeface="Segoe UI"/>
              </a:rPr>
              <a:t>It is in the company the payment keeps.</a:t>
            </a:r>
          </a:p>
        </p:txBody>
      </p:sp>
      <p:pic>
        <p:nvPicPr>
          <p:cNvPr id="13" name="Picture 12" descr="dell-technologie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vidia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MEASURED ON THE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Performance on a single NVIDIA GB10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589,528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transactions scored per second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25,803 in 0.044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671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0.958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F1 score — see caveat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benchmark artefact: honest figure is 0.78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671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41.7 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to preprocess 24.4M rows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graph construction on GPU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959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23.0 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to train end to end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GNN + XGBoost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947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9959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3.3 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per live explanation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Shapley, computed on demand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94760"/>
            <a:ext cx="3364992" cy="160020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99592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76B900"/>
                </a:solidFill>
                <a:latin typeface="Consolas"/>
              </a:rPr>
              <a:t>9.4 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full power-cycle recovery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container restart to serving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BA0B6"/>
                </a:solidFill>
                <a:latin typeface="Segoe UI"/>
              </a:rPr>
              <a:t>Portfolio optimisation: 18x vs CPU on a 51,502-variable LP.   Document intelligence: full OCR, graph and vector pipeline on the same machine.</a:t>
            </a:r>
          </a:p>
        </p:txBody>
      </p:sp>
      <p:pic>
        <p:nvPicPr>
          <p:cNvPr id="21" name="Picture 20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WHY EXPLAINABILITY IS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A score a bank cannot justify is a score it cannot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Every decision carries its reasons.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Shapley attribution runs per transaction, not as a dataset-level feature-importance chart. “Why was this card declined?” has an answer.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Attribution is grouped into human language.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Not 38 anonymous encoded columns — merchant city, postal code, entry mode, terminal errors, transaction amount.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It supports the conversation with the regulator and the customer.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Adverse-action explanation, dispute handling, model risk documentation and audit all need the same thing: a defensible reason.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It also exposes the model's mistakes.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The demo displays ground truth on every transaction, including its 123 false positives and 56 misses. Confidence, not concealment.</a:t>
            </a:r>
          </a:p>
        </p:txBody>
      </p:sp>
      <p:pic>
        <p:nvPicPr>
          <p:cNvPr id="9" name="Picture 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BEYOND 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A foundation model for spending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995" y="1864994"/>
            <a:ext cx="6785610" cy="3522154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mbedding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6766560" cy="3503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965960"/>
            <a:ext cx="3657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29M parameters. A 6,251-token financial vocabulary. Trained only to predict a cardholder's next transaction — never shown a fraud label.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8EEF5"/>
                </a:solidFill>
                <a:latin typeface="Segoe UI"/>
              </a:rPr>
              <a:t>Fraud clusters anyway.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Adding these embeddings to the production fraud features lifted average precision by 26.9% — fewer false alarms at the same catch rate.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FFA502"/>
                </a:solidFill>
                <a:latin typeface="Segoe UI"/>
              </a:rPr>
              <a:t>Embeddings alone score far worse than plain features. They complement feature engineering; they do not replace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59,123 transactions from a 1.2M corpus  ·  projected with cuML UMAP in 2.2 s on the GB10</a:t>
            </a:r>
          </a:p>
        </p:txBody>
      </p:sp>
      <p:pic>
        <p:nvPicPr>
          <p:cNvPr id="12" name="Picture 11" descr="dell-technologie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vidi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01168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200" b="1">
                <a:solidFill>
                  <a:srgbClr val="E8EEF5"/>
                </a:solidFill>
                <a:latin typeface="Segoe UI"/>
              </a:rPr>
              <a:t>Where this applies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8BA0B6"/>
                </a:solidFill>
                <a:latin typeface="Segoe UI"/>
              </a:rPr>
              <a:t>The demo is card fraud. The architecture is a pattern for any problem where the answer lives in relationships.</a:t>
            </a:r>
          </a:p>
        </p:txBody>
      </p:sp>
      <p:pic>
        <p:nvPicPr>
          <p:cNvPr id="7" name="Picture 6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USE CASE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Payment fraud at authorisation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6B900"/>
                </a:solidFill>
                <a:latin typeface="Segoe UI"/>
              </a:rPr>
              <a:t>Score every card transaction in the authorisation window, with the reason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WHAT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7168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Nothing — this is the demonstrated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THE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16976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Cardholder → transaction → merchant.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WHY GRAPH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6784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Catches ordinary-looking amounts at compromised merchants that amount-and-velocity rules miss.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OPERATIONAL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71659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Sub-millisecond scoring leaves budget for the rest of the authorisation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698480" cy="56692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790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6B900"/>
                </a:solidFill>
                <a:latin typeface="Consolas"/>
              </a:rPr>
              <a:t>STATUS   Demonstrated today</a:t>
            </a:r>
          </a:p>
        </p:txBody>
      </p:sp>
      <p:pic>
        <p:nvPicPr>
          <p:cNvPr id="19" name="Picture 1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USE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Money laundering and mule networks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6B900"/>
                </a:solidFill>
                <a:latin typeface="Segoe UI"/>
              </a:rPr>
              <a:t>Find the structure, not the suspicious individual: layering chains, mule rings, circular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WHAT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7168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Node types become accounts and counterparties; edges become transfers with amount and timing.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THE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16976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Account → transfer → account, across institutions where data sharing permits.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WHY GRAPH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6784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Mule networks are invisible per-account and obvious as a subgraph. This is the canonical GNN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OPERATIONAL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71659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Batch scoring over a transfer window; explanations support the STR narrative.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698480" cy="56692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790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A502"/>
                </a:solidFill>
                <a:latin typeface="Consolas"/>
              </a:rPr>
              <a:t>STATUS   Strong architectural fit — not yet built</a:t>
            </a:r>
          </a:p>
        </p:txBody>
      </p:sp>
      <p:pic>
        <p:nvPicPr>
          <p:cNvPr id="19" name="Picture 1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USE CASE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Merchant and acquirer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6B900"/>
                </a:solidFill>
                <a:latin typeface="Segoe UI"/>
              </a:rPr>
              <a:t>Score the merchant, not just the payment: onboarding risk, transaction laundering, bust-out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WHAT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7168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Predict on the merchant node instead of the transaction node.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THE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16976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Merchant ↔ shared cardholders, terminals, beneficial owners, settlement accounts.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WHY GRAPH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6784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Fraudulent merchants are identifiable by who they share customers and infrastructure with.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OPERATIONAL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71659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Daily or weekly re-scoring; feeds portfolio monitoring and onboarding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698480" cy="56692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790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6B900"/>
                </a:solidFill>
                <a:latin typeface="Consolas"/>
              </a:rPr>
              <a:t>STATUS   Same node-prediction pattern</a:t>
            </a:r>
          </a:p>
        </p:txBody>
      </p:sp>
      <p:pic>
        <p:nvPicPr>
          <p:cNvPr id="19" name="Picture 1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USE CASE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Account takeover and synthetic identity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6B900"/>
                </a:solidFill>
                <a:latin typeface="Segoe UI"/>
              </a:rPr>
              <a:t>Detect accounts that behave like a network artefact rather than a person.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WHAT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7168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Add device, session and identity-attribute nodes to the graph.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THE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16976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Customer ↔ device ↔ session ↔ shared attributes (address, phone, employer).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WHY GRAPH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6784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Synthetic identities are built from recombined real attributes — the reuse is only visible across accounts.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BA0B6"/>
                </a:solidFill>
                <a:latin typeface="Consolas"/>
              </a:rPr>
              <a:t>OPERATIONAL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71659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Real-time at login and step-up; explanations justify the friction applied.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698480" cy="566928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790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A502"/>
                </a:solidFill>
                <a:latin typeface="Consolas"/>
              </a:rPr>
              <a:t>STATUS   Requires additional data sources</a:t>
            </a:r>
          </a:p>
        </p:txBody>
      </p:sp>
      <p:pic>
        <p:nvPicPr>
          <p:cNvPr id="19" name="Picture 1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011680" cy="28575"/>
          </a:xfrm>
          <a:prstGeom prst="rect">
            <a:avLst/>
          </a:prstGeom>
          <a:solidFill>
            <a:srgbClr val="4A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8EEF5"/>
                </a:solidFill>
                <a:latin typeface="Segoe UI"/>
              </a:rPr>
              <a:t>Demo two — Portfolio optimisation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8BA0B6"/>
                </a:solidFill>
                <a:latin typeface="Segoe UI"/>
              </a:rPr>
              <a:t>The same box, a different discipline: robust tail-risk allocation on NVIDIA cuOpt.</a:t>
            </a:r>
          </a:p>
        </p:txBody>
      </p:sp>
      <p:pic>
        <p:nvPicPr>
          <p:cNvPr id="7" name="Picture 6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PORTFOLIO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Robust allocation, fast enough to iterate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995" y="1864994"/>
            <a:ext cx="6694170" cy="3892010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rtfolio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6675120" cy="387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1920240"/>
            <a:ext cx="3749039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Mean-CVaR asks a harder question than mean-variance: on the worst 5% of days, how much do I lose? Answering it means simulating tens of thousands of futures.</a:t>
            </a:r>
          </a:p>
          <a:p>
            <a:pPr>
              <a:spcAft>
                <a:spcPts val="100"/>
              </a:spcAft>
            </a:pPr>
            <a:r>
              <a:rPr sz="2100" b="1">
                <a:solidFill>
                  <a:srgbClr val="4AA8E8"/>
                </a:solidFill>
                <a:latin typeface="Consolas"/>
              </a:rPr>
              <a:t>11.7 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GPU · cuOpt</a:t>
            </a:r>
          </a:p>
          <a:p>
            <a:pPr>
              <a:spcAft>
                <a:spcPts val="100"/>
              </a:spcAft>
            </a:pPr>
            <a:r>
              <a:rPr sz="2100" b="1">
                <a:solidFill>
                  <a:srgbClr val="4AA8E8"/>
                </a:solidFill>
                <a:latin typeface="Consolas"/>
              </a:rPr>
              <a:t>211.7 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CPU · CVXPY</a:t>
            </a:r>
          </a:p>
          <a:p>
            <a:pPr>
              <a:spcAft>
                <a:spcPts val="100"/>
              </a:spcAft>
            </a:pPr>
            <a:r>
              <a:rPr sz="2100" b="1">
                <a:solidFill>
                  <a:srgbClr val="4AA8E8"/>
                </a:solidFill>
                <a:latin typeface="Consolas"/>
              </a:rPr>
              <a:t>18x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faster, same optimum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500 assets × 50,000 scenarios — an LP with 51,502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76B900"/>
                </a:solidFill>
                <a:latin typeface="Segoe UI"/>
              </a:rPr>
              <a:t>Rebalancing is a repeated task, not a one-off. Across hundreds of backtest solves, that gap turns an overnight job into a morning's work.</a:t>
            </a:r>
          </a:p>
        </p:txBody>
      </p:sp>
      <p:pic>
        <p:nvPicPr>
          <p:cNvPr id="12" name="Picture 11" descr="dell-technologie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vidi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011680" cy="28575"/>
          </a:xfrm>
          <a:prstGeom prst="rect">
            <a:avLst/>
          </a:prstGeom>
          <a:solidFill>
            <a:srgbClr val="FFA5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8EEF5"/>
                </a:solidFill>
                <a:latin typeface="Segoe UI"/>
              </a:rPr>
              <a:t>Demo three — Document intelligence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8BA0B6"/>
                </a:solidFill>
                <a:latin typeface="Segoe UI"/>
              </a:rPr>
              <a:t>Arabic financial documents into structured data — on the same box, still offline.</a:t>
            </a:r>
          </a:p>
        </p:txBody>
      </p:sp>
      <p:pic>
        <p:nvPicPr>
          <p:cNvPr id="7" name="Picture 6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DOCUMENT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Arabic documents into tables, text and a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995" y="1864994"/>
            <a:ext cx="6694170" cy="3560042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cs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6675120" cy="3540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1920240"/>
            <a:ext cx="3749039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KYC files, trade-finance paperwork and account-opening packs arrive as scans — often in Arabic, often as tables no rules engine can read.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FA502"/>
                </a:solidFill>
                <a:latin typeface="Consolas"/>
              </a:rPr>
              <a:t>The pipeline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·  Layout detection and OCR on the page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·  Tables → PostgreSQL, structured and queryable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·  Text → knowledge graph (Ollama → ArangoDB)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·  All content → vector store (Qdrant) for retrieval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·  Source images → object store (MinIO)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76B900"/>
                </a:solidFill>
                <a:latin typeface="Segoe UI"/>
              </a:rPr>
              <a:t>Every model runs on the GB10. No document leaves the building.</a:t>
            </a:r>
          </a:p>
        </p:txBody>
      </p:sp>
      <p:pic>
        <p:nvPicPr>
          <p:cNvPr id="11" name="Picture 10" descr="dell-technologie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vidi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011680" cy="28575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8EEF5"/>
                </a:solidFill>
                <a:latin typeface="Segoe UI"/>
              </a:rPr>
              <a:t>Demo four — Loan origination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8BA0B6"/>
                </a:solidFill>
                <a:latin typeface="Segoe UI"/>
              </a:rPr>
              <a:t>A vision-language model reading the documents a loan officer reads, and a state machine making the decision auditable.</a:t>
            </a:r>
          </a:p>
        </p:txBody>
      </p:sp>
      <p:pic>
        <p:nvPicPr>
          <p:cNvPr id="7" name="Picture 6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From document upload to an auditable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995" y="1864994"/>
            <a:ext cx="6694170" cy="3718179"/>
          </a:xfrm>
          <a:prstGeom prst="rect">
            <a:avLst/>
          </a:prstGeom>
          <a:noFill/>
          <a:ln w="12700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an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6675120" cy="36991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1920240"/>
            <a:ext cx="374903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4AA8E8"/>
                </a:solidFill>
                <a:latin typeface="Consolas"/>
              </a:rPr>
              <a:t>01   Capture</a:t>
            </a:r>
          </a:p>
          <a:p>
            <a:pPr>
              <a:spcAft>
                <a:spcPts val="1100"/>
              </a:spcAft>
            </a:pPr>
            <a:r>
              <a:rPr sz="1200" b="0">
                <a:solidFill>
                  <a:srgbClr val="8BA0B6"/>
                </a:solidFill>
                <a:latin typeface="Segoe UI"/>
              </a:rPr>
              <a:t>Applicant uploads identity and income documents.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4AA8E8"/>
                </a:solidFill>
                <a:latin typeface="Consolas"/>
              </a:rPr>
              <a:t>02   Read</a:t>
            </a:r>
          </a:p>
          <a:p>
            <a:pPr>
              <a:spcAft>
                <a:spcPts val="1100"/>
              </a:spcAft>
            </a:pPr>
            <a:r>
              <a:rPr sz="1200" b="0">
                <a:solidFill>
                  <a:srgbClr val="8BA0B6"/>
                </a:solidFill>
                <a:latin typeface="Segoe UI"/>
              </a:rPr>
              <a:t>A fine-tuned 7B vision model reads each one natively — no OCR-then-parse, no per-template rules.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4AA8E8"/>
                </a:solidFill>
                <a:latin typeface="Consolas"/>
              </a:rPr>
              <a:t>03   Cross-check</a:t>
            </a:r>
          </a:p>
          <a:p>
            <a:pPr>
              <a:spcAft>
                <a:spcPts val="1100"/>
              </a:spcAft>
            </a:pPr>
            <a:r>
              <a:rPr sz="1200" b="0">
                <a:solidFill>
                  <a:srgbClr val="8BA0B6"/>
                </a:solidFill>
                <a:latin typeface="Segoe UI"/>
              </a:rPr>
              <a:t>Deterministic validation across documents: name, employer, declared income.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4AA8E8"/>
                </a:solidFill>
                <a:latin typeface="Consolas"/>
              </a:rPr>
              <a:t>04   Decide</a:t>
            </a:r>
          </a:p>
          <a:p>
            <a:pPr>
              <a:spcAft>
                <a:spcPts val="1100"/>
              </a:spcAft>
            </a:pPr>
            <a:r>
              <a:rPr sz="1200" b="0">
                <a:solidFill>
                  <a:srgbClr val="8BA0B6"/>
                </a:solidFill>
                <a:latin typeface="Segoe UI"/>
              </a:rPr>
              <a:t>A state machine walks the approval path and records why.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E8EEF5"/>
                </a:solidFill>
                <a:latin typeface="Consolas"/>
              </a:rPr>
              <a:t>Fine-tuned on Egyptian documents:</a:t>
            </a:r>
            <a:br/>
            <a:r>
              <a:rPr sz="1150" b="0">
                <a:solidFill>
                  <a:srgbClr val="E8EEF5"/>
                </a:solidFill>
                <a:latin typeface="Consolas"/>
              </a:rPr>
              <a:t>LoRA r=64, 4 epochs, eval loss 0.139,</a:t>
            </a:r>
            <a:br/>
            <a:r>
              <a:rPr sz="1150" b="0">
                <a:solidFill>
                  <a:srgbClr val="E8EEF5"/>
                </a:solidFill>
                <a:latin typeface="Consolas"/>
              </a:rPr>
              <a:t>on Qwen2.5-VL-7B-Instruct.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97880"/>
            <a:ext cx="10698480" cy="54864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603504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6B900"/>
                </a:solidFill>
                <a:latin typeface="Segoe UI"/>
              </a:rPr>
              <a:t>The cross-document checks are arithmetic, not model output — so the model can be wrong without the decision being unsafe.</a:t>
            </a:r>
          </a:p>
        </p:txBody>
      </p:sp>
      <p:pic>
        <p:nvPicPr>
          <p:cNvPr id="13" name="Picture 12" descr="dell-technologie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vidi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WHY IT RUNS ON ONE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Data residency without a cloud dependency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The entire system is on-device.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Dataset, preprocessing, training, inference and explanation all run on a single GB10. During the demo the network cable is unplugged and nothing changes.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No transaction data leaves the institution — or the Kingdom.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That removes the cross-border data-transfer question from the procurement conversation entirely, rather than answering it.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Deployable where the data already is.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A desktop-class box fits in a branch, a data centre rack, or a regional processing site without redesigning the estate.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Recovery is measured in seconds.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Full restart to serving in 9.4 seconds, with automatic restart on power loss.</a:t>
            </a:r>
          </a:p>
        </p:txBody>
      </p:sp>
      <p:pic>
        <p:nvPicPr>
          <p:cNvPr id="9" name="Picture 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READING THE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One column predicts the fraud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BA0B6"/>
                </a:solidFill>
                <a:latin typeface="Segoe UI"/>
              </a:rPr>
              <a:t>In the slice of IBM TabFormer that the standard benchmark tests on, every one of the 2,087 fraudulent transactions occurs in the same city. Not most — all of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BA0B6"/>
                </a:solidFill>
                <a:latin typeface="Consolas"/>
              </a:rPr>
              <a:t>APPROACH                                                             PRECISION            RECALL                    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698480" cy="105156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5747"/>
                </a:solidFill>
                <a:latin typeface="Consolas"/>
              </a:rPr>
              <a:t>if city == "Rome"  →  fraud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one line. no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95351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E8EEF5"/>
                </a:solidFill>
                <a:latin typeface="Consolas"/>
              </a:rPr>
              <a:t>0.9803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5351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E8EEF5"/>
                </a:solidFill>
                <a:latin typeface="Consolas"/>
              </a:rPr>
              <a:t>1.0000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95351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5747"/>
                </a:solidFill>
                <a:latin typeface="Consolas"/>
              </a:rPr>
              <a:t>0.9900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EEF5"/>
                </a:solidFill>
                <a:latin typeface="Segoe UI"/>
              </a:rPr>
              <a:t>GraphSAGE + XGBoost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8BA0B6"/>
                </a:solidFill>
                <a:latin typeface="Segoe UI"/>
              </a:rPr>
              <a:t>the full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8795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E8EEF5"/>
                </a:solidFill>
                <a:latin typeface="Consolas"/>
              </a:rPr>
              <a:t>0.9429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18795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E8EEF5"/>
                </a:solidFill>
                <a:latin typeface="Consolas"/>
              </a:rPr>
              <a:t>0.9732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18795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E8EEF5"/>
                </a:solidFill>
                <a:latin typeface="Consolas"/>
              </a:rPr>
              <a:t>0.9578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40680"/>
            <a:ext cx="1371600" cy="28575"/>
          </a:xfrm>
          <a:prstGeom prst="rect">
            <a:avLst/>
          </a:prstGeom>
          <a:solidFill>
            <a:srgbClr val="F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9612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5747"/>
                </a:solidFill>
                <a:latin typeface="Segoe UI"/>
              </a:rPr>
              <a:t>A single line of SQL beats the model on this slice.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So any headline accuracy taken from it measures the dataset, not the method — and it is discoverable by anyone who groups the frauds by city. The demo’s own explainability said so all along: its top attribution is “merchant city”.</a:t>
            </a:r>
          </a:p>
        </p:txBody>
      </p:sp>
      <p:pic>
        <p:nvPicPr>
          <p:cNvPr id="22" name="Picture 21" descr="dell-technologi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nvidi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pic>
        <p:nvPicPr>
          <p:cNvPr id="25" name="Picture 24" descr="dell-technologi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nvidi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THE HONEST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Tested where geography varies, the model wins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BA0B6"/>
                </a:solidFill>
                <a:latin typeface="Segoe UI"/>
              </a:rPr>
              <a:t>Same model, same features, same code — re-run against a period where fraud spans 730 cities instead of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257800" cy="233172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>
                <a:solidFill>
                  <a:srgbClr val="E8EEF5"/>
                </a:solidFill>
                <a:latin typeface="Segoe UI"/>
              </a:rPr>
              <a:t>2019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8BA0B6"/>
                </a:solidFill>
                <a:latin typeface="Segoe UI"/>
              </a:rPr>
              <a:t>standard benchmark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1  fraud cities in the test set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8BA0B6"/>
                </a:solidFill>
                <a:latin typeface="Consolas"/>
              </a:rPr>
              <a:t>best single rule        0.9900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5747"/>
                </a:solidFill>
                <a:latin typeface="Consolas"/>
              </a:rPr>
              <a:t>GNN + XGBoost           0.9578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FF5747"/>
                </a:solidFill>
                <a:latin typeface="Consolas"/>
              </a:rPr>
              <a:t>RULE WINS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606040"/>
            <a:ext cx="5257800" cy="233172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7889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>
                <a:solidFill>
                  <a:srgbClr val="E8EEF5"/>
                </a:solidFill>
                <a:latin typeface="Segoe UI"/>
              </a:rPr>
              <a:t>2015–2016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8BA0B6"/>
                </a:solidFill>
                <a:latin typeface="Segoe UI"/>
              </a:rPr>
              <a:t>geography varies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730  fraud cities in the test set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8BA0B6"/>
                </a:solidFill>
                <a:latin typeface="Consolas"/>
              </a:rPr>
              <a:t>best single rule        0.7568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76B900"/>
                </a:solidFill>
                <a:latin typeface="Consolas"/>
              </a:rPr>
              <a:t>GNN + XGBoost           0.7800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76B900"/>
                </a:solidFill>
                <a:latin typeface="Consolas"/>
              </a:rPr>
              <a:t>MODEL WINS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303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76B900"/>
                </a:solidFill>
                <a:latin typeface="Segoe UI"/>
              </a:rPr>
              <a:t>Quote 0.78, not 0.96.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On the honest split the model reaches F1 0.78 at precision 0.82, against 0.68 for the best single rule — a 14-point precision advantage no rules engine can reach, because the signal is not in any one column. A smaller headline and a far stronger claim.</a:t>
            </a:r>
          </a:p>
        </p:txBody>
      </p:sp>
      <p:pic>
        <p:nvPicPr>
          <p:cNvPr id="15" name="Picture 14" descr="dell-technologi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vidi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pic>
        <p:nvPicPr>
          <p:cNvPr id="18" name="Picture 17" descr="dell-technologi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nvidi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ON YOUR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What changes, in both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57800" cy="315468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61772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WORKS IN YOUR FAVOUR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E8EEF5"/>
                </a:solidFill>
                <a:latin typeface="Segoe UI"/>
              </a:rPr>
              <a:t>Richer features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Device, channel velocity, tenure, merchant risk history. No single column is a usable proxy.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E8EEF5"/>
                </a:solidFill>
                <a:latin typeface="Segoe UI"/>
              </a:rPr>
              <a:t>A real graph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TabFormer gives card → transaction → merchant and nothing else. Shared devices, addresses and beneficiaries are what rules cannot express.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E8EEF5"/>
                </a:solidFill>
                <a:latin typeface="Segoe UI"/>
              </a:rPr>
              <a:t>The graph contribution here is understated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This benchmark is close to the weakest possible showcase for a graph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74519"/>
            <a:ext cx="5257800" cy="315468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461772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FA502"/>
                </a:solidFill>
                <a:latin typeface="Consolas"/>
              </a:rPr>
              <a:t>WORKS AGAINST YOU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E8EEF5"/>
                </a:solidFill>
                <a:latin typeface="Segoe UI"/>
              </a:rPr>
              <a:t>Late, partial labels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Chargebacks settle over 60–90 days and confirmed fraud undercounts.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E8EEF5"/>
                </a:solidFill>
                <a:latin typeface="Segoe UI"/>
              </a:rPr>
              <a:t>Harsher imbalance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Below the 0.122% base rate in this data.</a:t>
            </a:r>
          </a:p>
          <a:p>
            <a:pPr>
              <a:spcAft>
                <a:spcPts val="200"/>
              </a:spcAft>
            </a:pPr>
            <a:r>
              <a:rPr sz="1350" b="1">
                <a:solidFill>
                  <a:srgbClr val="E8EEF5"/>
                </a:solidFill>
                <a:latin typeface="Segoe UI"/>
              </a:rPr>
              <a:t>Continuous drift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8BA0B6"/>
                </a:solidFill>
                <a:latin typeface="Segoe UI"/>
              </a:rPr>
              <a:t>A model trained across a campaign boundary learns the campaign, which is exactly what the 2019 result shows.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85232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449824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76B900"/>
                </a:solidFill>
                <a:latin typeface="Segoe UI"/>
              </a:rPr>
              <a:t>The metric that transfers: detection at fixed review capacity.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Fraud teams buy on “my team can work 500 alerts a day — how much fraud do I catch?”. The live demo re-ranks an incumbent engine’s queue and reports how much fraud lands in the top N. Because it compares orderings inside that queue, the artefact above does not touch it — and a bank can validate it against its own historical alerts in about a week, deploying nothing.</a:t>
            </a:r>
          </a:p>
        </p:txBody>
      </p:sp>
      <p:pic>
        <p:nvPicPr>
          <p:cNvPr id="14" name="Picture 13" descr="dell-technologi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nvidi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pic>
        <p:nvPicPr>
          <p:cNvPr id="17" name="Picture 16" descr="dell-technologi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nvidi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WHAT WE ARE NOT CLAIMING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The caveats, stated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These metrics come from a rebalanced benchmark, not production conditions.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The held-out set runs at 8.09% fraud; the true base rate is 0.122%. At the real rate, false-positive economics change materially. Any pilot must be re-measured on live distributions.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Training undersamples the majority class.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A 0.1 fraud ratio with computed class weights. Standard practice for extreme imbalance, and a deliberate modelling choice rather than a hidden one.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The dataset is public, synthetic-adjacent, and carries a geographic artefact.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IBM TabFormer, Apache 2.0. Every fraud in the benchmark's test slice sits in one city, so a one-line rule scores F1 0.99 there. Measured on a period where geography varies, the model reaches 0.78 and beats the best rule — see the three preceding slides.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A production deployment needs the surrounding system.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Case management, feedback loops, model monitoring, champion/challenger and drift detection are all out of scope for this demo.</a:t>
            </a:r>
          </a:p>
        </p:txBody>
      </p:sp>
      <p:pic>
        <p:nvPicPr>
          <p:cNvPr id="9" name="Picture 8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6B900"/>
                </a:solidFill>
                <a:latin typeface="Consolas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5"/>
                </a:solidFill>
                <a:latin typeface="Segoe UI"/>
              </a:rPr>
              <a:t>From demo to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371600" cy="2857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Run it on your data.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The pipeline is three commands and roughly a minute of compute for a dataset this size. The graph schema adapts to your transaction model.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Choose the use case with the clearest data.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Payment fraud and merchant risk need only data an issuer or acquirer already holds. AML and identity graphs need more sourcing.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Measure at the true base rate from day one.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Agree the false-positive budget with the fraud operations team before tuning anything.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8EEF5"/>
                </a:solidFill>
                <a:latin typeface="Segoe UI"/>
              </a:rPr>
              <a:t>Deploy where the data lives.</a:t>
            </a:r>
          </a:p>
          <a:p>
            <a:pPr>
              <a:spcAft>
                <a:spcPts val="1300"/>
              </a:spcAft>
            </a:pPr>
            <a:r>
              <a:rPr sz="1400" b="0">
                <a:solidFill>
                  <a:srgbClr val="8BA0B6"/>
                </a:solidFill>
                <a:latin typeface="Segoe UI"/>
              </a:rPr>
              <a:t>One GB10 per site, or scale up the same containers on larger NVIDIA infrastructure — the stack is identical.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698480" cy="777240"/>
          </a:xfrm>
          <a:prstGeom prst="roundRect">
            <a:avLst/>
          </a:prstGeom>
          <a:solidFill>
            <a:srgbClr val="141C25"/>
          </a:solidFill>
          <a:ln w="9525"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509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A0B6"/>
                </a:solidFill>
                <a:latin typeface="Segoe UI"/>
              </a:rPr>
              <a:t>Built on the NVIDIA AI Blueprint for Financial Fraud Detection  ·  IBM TabFormer dataset (Apache 2.0)  ·  running on NVIDIA GB10</a:t>
            </a:r>
          </a:p>
        </p:txBody>
      </p:sp>
      <p:pic>
        <p:nvPicPr>
          <p:cNvPr id="11" name="Picture 10" descr="dell-technologie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09360"/>
            <a:ext cx="1853801" cy="2377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86489" y="6303360"/>
            <a:ext cx="9525" cy="249744"/>
          </a:xfrm>
          <a:prstGeom prst="rect">
            <a:avLst/>
          </a:prstGeom>
          <a:solidFill>
            <a:srgbClr val="22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vidi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657" y="6235660"/>
            <a:ext cx="523117" cy="3851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6336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BA0B6"/>
                </a:solidFill>
                <a:latin typeface="Consolas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