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putting a hand on the box. The hardware is the story: this entire system runs on one desktop machine, disconnected.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imbalance honestly and early. It is the reason the rest of the approach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numbers came out of our own preprocessing run, not a paper. They justify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temporal split matters to anyone who has been burned by leakage. Say it unprompted.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output from the running system, captured on the GB10 - not a mockup. Everything on this slide is reproducible on the 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emotional centre of the pitch. Let the bar chart do the talking: full-width red at the top, a sliver at the bottom for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figure here was measured on this machine. None of it is from a datasheet.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SAMA-regulated institutions this is the difference between a pilot and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stop selling the demo, start selling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Saudi institutions this is often the deciding factor, ahead of model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Volunteering this early buys more trust than it costs. Risk teams will find it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box again. Offer to run their schema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ell-technologies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85800"/>
            <a:ext cx="2709401" cy="3474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42089" y="679800"/>
            <a:ext cx="9525" cy="359472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vidi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3257" y="578084"/>
            <a:ext cx="764555" cy="56290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148840"/>
            <a:ext cx="201168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E8EEF5"/>
                </a:solidFill>
                <a:latin typeface="Segoe UI"/>
              </a:rPr>
              <a:t>Detecting Fraud in the Graph</a:t>
            </a:r>
          </a:p>
          <a:p>
            <a:pPr>
              <a:spcAft>
                <a:spcPts val="0"/>
              </a:spcAft>
            </a:pPr>
            <a:r>
              <a:rPr sz="2100" b="0">
                <a:solidFill>
                  <a:srgbClr val="76B900"/>
                </a:solidFill>
                <a:latin typeface="Segoe UI"/>
              </a:rPr>
              <a:t>Graph neural networks + XGBoost, running entirely on one NVIDIA GB10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8BA0B6"/>
                </a:solidFill>
                <a:latin typeface="Segoe UI"/>
              </a:rPr>
              <a:t>24.4 million card transactions  ·  589,000 scored per second  ·  a regulator-grade explanation for every decision  ·  no cloud, no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MONEY20/20 MIDDLE EAST  ·  RIYADH  ·  14–16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One fraud in every 819 transactions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A model that says “never fraud” is 99.88% accurate — and worthless.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In the IBM TabFormer dataset: 24,386,900 transactions, 29,757 of them fraudulent. A base rate of 0.122%.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Extreme imbalance breaks conventional accuracy thinking.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cost of a miss and the cost of a false alarm are wildly asymmetric, and both are business decisions, not model settings.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Fraud does not look unusual on its own row.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fraudulent transactions in this dataset are mostly ordinary amounts at ordinary times. Nothing in the row screams fraud.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515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1206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76B900"/>
                </a:solidFill>
                <a:latin typeface="Segoe UI"/>
              </a:rPr>
              <a:t>So the signal is not in the transaction. It is in the relationships around it.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WHAT THE DATA SAYS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The strongest fraud signals are entities, not amounts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Correlation with the fraud label, measured during preprocessing of all 24.4M rows: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EF5"/>
                </a:solidFill>
                <a:latin typeface="Segoe UI"/>
              </a:rPr>
              <a:t>Merchant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422440"/>
            <a:ext cx="6018275" cy="18288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23774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EF5"/>
                </a:solidFill>
                <a:latin typeface="Consolas"/>
              </a:rPr>
              <a:t>35.9%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980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EF5"/>
                </a:solidFill>
                <a:latin typeface="Segoe UI"/>
              </a:rPr>
              <a:t>Merchant identity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843064"/>
            <a:ext cx="5850635" cy="18288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0" y="27980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EF5"/>
                </a:solidFill>
                <a:latin typeface="Consolas"/>
              </a:rPr>
              <a:t>34.9%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186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EF5"/>
                </a:solidFill>
                <a:latin typeface="Segoe UI"/>
              </a:rPr>
              <a:t>Merchant city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3263688"/>
            <a:ext cx="5448300" cy="18288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EF5"/>
                </a:solidFill>
                <a:latin typeface="Consolas"/>
              </a:rPr>
              <a:t>32.5%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393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Postal code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3684312"/>
            <a:ext cx="2514600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36393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15.0%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599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Merchant category (MCC)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4104936"/>
            <a:ext cx="2129028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40599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12.7%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480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Card / cardholder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4525560"/>
            <a:ext cx="1106424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4480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6.6%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011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Day of month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4946184"/>
            <a:ext cx="50291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49011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0.3%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21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Month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5366808"/>
            <a:ext cx="33528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5321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6B900"/>
                </a:solidFill>
                <a:latin typeface="Segoe UI"/>
              </a:rPr>
              <a:t>Where and with whom — not when, and not how much. That is a graph problem.</a:t>
            </a:r>
          </a:p>
        </p:txBody>
      </p:sp>
      <p:pic>
        <p:nvPicPr>
          <p:cNvPr id="34" name="Picture 33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Model the transaction graph, then classify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3364992" cy="35661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28346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76B900"/>
                </a:solidFill>
                <a:latin typeface="Segoe UI"/>
              </a:rPr>
              <a:t>1  Build the graph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Cardholders, transactions and merchants become nodes. Every payment becomes edges:</a:t>
            </a:r>
            <a:br/>
            <a:r>
              <a:rPr sz="1300" b="0">
                <a:solidFill>
                  <a:srgbClr val="8BA0B6"/>
                </a:solidFill>
                <a:latin typeface="Segoe UI"/>
              </a:rPr>
              <a:t>user → transaction → merchant.</a:t>
            </a:r>
            <a:br/>
            <a:br/>
            <a:r>
              <a:rPr sz="1300" b="0">
                <a:solidFill>
                  <a:srgbClr val="8BA0B6"/>
                </a:solidFill>
                <a:latin typeface="Segoe UI"/>
              </a:rPr>
              <a:t>301,524 training transactions across</a:t>
            </a:r>
            <a:br/>
            <a:r>
              <a:rPr sz="1300" b="0">
                <a:solidFill>
                  <a:srgbClr val="8BA0B6"/>
                </a:solidFill>
                <a:latin typeface="Segoe UI"/>
              </a:rPr>
              <a:t>4,873 cardholders and 42,942 merchants.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65960"/>
            <a:ext cx="3364992" cy="35661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240280"/>
            <a:ext cx="28346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76B900"/>
                </a:solidFill>
                <a:latin typeface="Segoe UI"/>
              </a:rPr>
              <a:t>2  Learn the neighbourhood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A GraphSAGE network aggregates each transaction's neighbourhood into an embedding — so a transaction is represented by the company it keeps, not just its own fields.</a:t>
            </a:r>
            <a:br/>
            <a:br/>
            <a:r>
              <a:rPr sz="1300" b="0">
                <a:solidFill>
                  <a:srgbClr val="8BA0B6"/>
                </a:solidFill>
                <a:latin typeface="Segoe UI"/>
              </a:rPr>
              <a:t>2 hops, 32 hidden channels.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65960"/>
            <a:ext cx="3364992" cy="35661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240280"/>
            <a:ext cx="28346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76B900"/>
                </a:solidFill>
                <a:latin typeface="Segoe UI"/>
              </a:rPr>
              <a:t>3  Classify and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XGBoost scores the embeddings, and Shapley value sampling attributes each decision back to human-readable feature groups.</a:t>
            </a:r>
            <a:br/>
            <a:br/>
            <a:r>
              <a:rPr sz="1300" b="0">
                <a:solidFill>
                  <a:srgbClr val="8BA0B6"/>
                </a:solidFill>
                <a:latin typeface="Segoe UI"/>
              </a:rPr>
              <a:t>Every score arrives with its reasons.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8EEF5"/>
                </a:solidFill>
                <a:latin typeface="Segoe UI"/>
              </a:rPr>
              <a:t>Temporal split, not random: train before 2018, validate on 2018, test after. It is a backtest.</a:t>
            </a:r>
          </a:p>
        </p:txBody>
      </p:sp>
      <p:pic>
        <p:nvPicPr>
          <p:cNvPr id="15" name="Picture 14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What the booth screen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83282" y="1864994"/>
            <a:ext cx="8431530" cy="4374261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874519"/>
            <a:ext cx="8412480" cy="43552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92807" y="638251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Left: transactions scoring in real time.   Centre: the flagged transaction and its real details.   Right: why it was flagged.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An ordinary amount, flagged at 99.5%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7715" y="1864994"/>
            <a:ext cx="3031699" cy="3996689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3012649" cy="397763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242435" y="1864994"/>
            <a:ext cx="3271770" cy="3996689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ex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874519"/>
            <a:ext cx="3252720" cy="39776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1965960"/>
            <a:ext cx="3291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E8EEF5"/>
                </a:solidFill>
                <a:latin typeface="Segoe UI"/>
              </a:rPr>
              <a:t>Read the bars, not the numbers.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Merchant city dominates the decision. Postal code follows. Transaction amount contributes under 1% as much — a sliver.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E8EEF5"/>
                </a:solidFill>
                <a:latin typeface="Segoe UI"/>
              </a:rPr>
              <a:t>A rules engine watching for large or unusual amounts never sees this transaction.</a:t>
            </a:r>
          </a:p>
          <a:p>
            <a:pPr>
              <a:spcAft>
                <a:spcPts val="0"/>
              </a:spcAft>
            </a:pPr>
            <a:r>
              <a:rPr sz="1500" b="1">
                <a:solidFill>
                  <a:srgbClr val="76B900"/>
                </a:solidFill>
                <a:latin typeface="Segoe UI"/>
              </a:rPr>
              <a:t>The fraud is not in the payment.</a:t>
            </a:r>
            <a:br/>
            <a:r>
              <a:rPr sz="1500" b="1">
                <a:solidFill>
                  <a:srgbClr val="76B900"/>
                </a:solidFill>
                <a:latin typeface="Segoe UI"/>
              </a:rPr>
              <a:t>It is in the company the payment keeps.</a:t>
            </a:r>
          </a:p>
        </p:txBody>
      </p:sp>
      <p:pic>
        <p:nvPicPr>
          <p:cNvPr id="13" name="Picture 12" descr="dell-technologie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vidia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MEASURED ON THE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Performance on a single NVIDIA GB10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671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589,528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transactions scored per second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25,803 in 0.044 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659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1671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0.958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F1 score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precision 94.3% · recall 97.3%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659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1671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41.7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to preprocess 24.4M rows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graph construction on 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947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959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23.0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to train end to end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GNN + XGBoost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947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39959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3.3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per live explanation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Shapley, computed on demand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7947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9959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9.4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full power-cycle recovery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container restart to serving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For context: a national card switch handling a few billion payments a year averages on the order of a hundred per second.</a:t>
            </a:r>
          </a:p>
        </p:txBody>
      </p:sp>
      <p:pic>
        <p:nvPicPr>
          <p:cNvPr id="21" name="Picture 20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WHY EXPLAINABILITY IS 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 score a bank cannot justify is a score it cannot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Every decision carries its reasons.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Shapley attribution runs per transaction, not as a dataset-level feature-importance chart. “Why was this card declined?” has an answer.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Attribution is grouped into human language.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Not 38 anonymous encoded columns — merchant city, postal code, entry mode, terminal errors, transaction amount.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It supports the conversation with the regulator and the customer.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Adverse-action explanation, dispute handling, model risk documentation and audit all need the same thing: a defensible reason.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It also exposes the model's mistakes.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demo displays ground truth on every transaction, including its 123 false positives and 56 misses. Confidence, not concealment.</a:t>
            </a:r>
          </a:p>
        </p:txBody>
      </p:sp>
      <p:pic>
        <p:nvPicPr>
          <p:cNvPr id="9" name="Picture 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201168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200" b="1">
                <a:solidFill>
                  <a:srgbClr val="E8EEF5"/>
                </a:solidFill>
                <a:latin typeface="Segoe UI"/>
              </a:rPr>
              <a:t>Where this applies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8BA0B6"/>
                </a:solidFill>
                <a:latin typeface="Segoe UI"/>
              </a:rPr>
              <a:t>The demo is card fraud. The architecture is a pattern for any problem where the answer lives in relationships.</a:t>
            </a:r>
          </a:p>
        </p:txBody>
      </p:sp>
      <p:pic>
        <p:nvPicPr>
          <p:cNvPr id="7" name="Picture 6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Payment fraud at authorisation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Score every card transaction in the authorisation window, with the reason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Nothing — this is the demonstrated system.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Cardholder → transaction → merchant.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Catches ordinary-looking amounts at compromised merchants that amount-and-velocity rules miss.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Sub-millisecond scoring leaves budget for the rest of the authorisation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6B900"/>
                </a:solidFill>
                <a:latin typeface="Consolas"/>
              </a:rPr>
              <a:t>STATUS   Demonstrated today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Money laundering and mule networks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Find the structure, not the suspicious individual: layering chains, mule rings, circular flows.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Node types become accounts and counterparties; edges become transfers with amount and timing.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Account → transfer → account, across institutions where data sharing permits.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Mule networks are invisible per-account and obvious as a subgraph. This is the canonical GNN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Batch scoring over a transfer window; explanations support the STR narrative.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A502"/>
                </a:solidFill>
                <a:latin typeface="Consolas"/>
              </a:rPr>
              <a:t>STATUS   Strong architectural fit — not yet built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Merchant and acquirer risk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Score the merchant, not just the payment: onboarding risk, transaction laundering, bust-out patterns.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Predict on the merchant node instead of the transaction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Merchant ↔ shared cardholders, terminals, beneficial owners, settlement accounts.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Fraudulent merchants are identifiable by who they share customers and infrastructure with.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Daily or weekly re-scoring; feeds portfolio monitoring and onboarding decisions.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6B900"/>
                </a:solidFill>
                <a:latin typeface="Consolas"/>
              </a:rPr>
              <a:t>STATUS   Same node-prediction pattern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Account takeover and synthetic identity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Detect accounts that behave like a network artefact rather than a person.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Add device, session and identity-attribute nodes to the graph.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Customer ↔ device ↔ session ↔ shared attributes (address, phone, employer).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Synthetic identities are built from recombined real attributes — the reuse is only visible across accounts.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Real-time at login and step-up; explanations justify the friction applied.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A502"/>
                </a:solidFill>
                <a:latin typeface="Consolas"/>
              </a:rPr>
              <a:t>STATUS   Requires additional data sources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WHY IT RUNS ON ONE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Data residency without a cloud dependency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The entire system is on-device.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Dataset, preprocessing, training, inference and explanation all run on a single GB10. During the demo the network cable is unplugged and nothing changes.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No transaction data leaves the institution — or the Kingdom.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That removes the cross-border data-transfer question from the procurement conversation entirely, rather than answering it.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Deployable where the data already is.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 desktop-class box fits in a branch, a data centre rack, or a regional processing site without redesigning the estate.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Recovery is measured in seconds.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Full restart to serving in 9.4 seconds, with automatic restart on power loss.</a:t>
            </a:r>
          </a:p>
        </p:txBody>
      </p:sp>
      <p:pic>
        <p:nvPicPr>
          <p:cNvPr id="9" name="Picture 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WHAT WE ARE NOT CLAIMING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The caveats, stated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These metrics come from a rebalanced benchmark, not production conditions.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held-out set runs at 8.09% fraud; the true base rate is 0.122%. At the real rate, false-positive economics change materially. Any pilot must be re-measured on live distributions.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Training undersamples the majority class.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 0.1 fraud ratio with computed class weights. Standard practice for extreme imbalance, and a deliberate modelling choice rather than a hidden one.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The dataset is public and synthetic-adjacent.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IBM TabFormer, Apache 2.0. It demonstrates the method; it is not a proxy for any institution's own fraud patterns.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A production deployment needs the surrounding system.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Case management, feedback loops, model monitoring, champion/challenger and drift detection are all out of scope for this demo.</a:t>
            </a:r>
          </a:p>
        </p:txBody>
      </p:sp>
      <p:pic>
        <p:nvPicPr>
          <p:cNvPr id="9" name="Picture 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From demo to 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Run it on your data.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pipeline is three commands and roughly a minute of compute for a dataset this size. The graph schema adapts to your transaction model.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Choose the use case with the clearest data.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Payment fraud and merchant risk need only data an issuer or acquirer already holds. AML and identity graphs need more sourcing.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Measure at the true base rate from day one.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Agree the false-positive budget with the fraud operations team before tuning anything.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Deploy where the data lives.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One GB10 per site, or scale up the same containers on larger NVIDIA infrastructure — the stack is identical.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40680"/>
            <a:ext cx="10698480" cy="77724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65099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Built on the NVIDIA AI Blueprint for Financial Fraud Detection  ·  IBM TabFormer dataset (Apache 2.0)  ·  running on NVIDIA GB10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